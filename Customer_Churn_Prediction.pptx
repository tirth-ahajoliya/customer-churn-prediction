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Customer Churn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CADCFC"/>
                </a:solidFill>
              </a:rPr>
              <a:t>Using Random Forest | End-to-End ML &amp; 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2423160"/>
            <a:ext cx="64008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6060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ADCFC"/>
                </a:solidFill>
              </a:rPr>
              <a:t>B.Tech – Gen AI  |  2nd Semester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0B8E8"/>
                </a:solidFill>
              </a:rPr>
              <a:t>Course: Generative AI  •  Instructor: [Instructor Name]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375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0B8E8"/>
                </a:solidFill>
              </a:rPr>
              <a:t>Student: [Your Name]  •  Enrollment No: [Your Enrollment No]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Project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234440"/>
            <a:ext cx="4023360" cy="3383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4023360" cy="4114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261872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What is Customer Churn?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737360"/>
            <a:ext cx="3840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 b="0">
                <a:solidFill>
                  <a:srgbClr val="4A4A6A"/>
                </a:solidFill>
              </a:rPr>
              <a:t>Churn = customers who stop using a service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4A4A6A"/>
                </a:solidFill>
              </a:rPr>
              <a:t>Critical metric in airline &amp; travel industry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4A4A6A"/>
                </a:solidFill>
              </a:rPr>
              <a:t>Costs 5–7× more to acquire than retain a customer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4A4A6A"/>
                </a:solidFill>
              </a:rPr>
              <a:t>Even 5% better retention → up to 95% profit increase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4A4A6A"/>
                </a:solidFill>
              </a:rPr>
              <a:t>Early prediction enables proactive engagement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1234440"/>
            <a:ext cx="4023360" cy="3383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846320" y="1234440"/>
            <a:ext cx="4023360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92040" y="1261872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Project Goals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1737360"/>
            <a:ext cx="374903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 b="0">
                <a:solidFill>
                  <a:srgbClr val="4A4A6A"/>
                </a:solidFill>
              </a:rPr>
              <a:t>Predict customer churn using ML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4A4A6A"/>
                </a:solidFill>
              </a:rPr>
              <a:t>Apply end-to-end data science workflow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4A4A6A"/>
                </a:solidFill>
              </a:rPr>
              <a:t>Build interactive Streamlit web app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4A4A6A"/>
                </a:solidFill>
              </a:rPr>
              <a:t>Deploy model to Streamlit Cloud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4A4A6A"/>
                </a:solidFill>
              </a:rPr>
              <a:t>Present insights with visualizations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Dataset Description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4A6A"/>
                </a:solidFill>
              </a:rPr>
              <a:t>Dataset: Customertravel.csv  |  954 records  |  7 features  |  Binary classification target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600200"/>
            <a:ext cx="2286000" cy="38404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606040" y="1600200"/>
            <a:ext cx="1554480" cy="384048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206240" y="1600200"/>
            <a:ext cx="46634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655064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1655064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761"/>
                </a:solidFill>
              </a:rPr>
              <a:t>Numerical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1655064"/>
            <a:ext cx="4480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6A"/>
                </a:solidFill>
              </a:rPr>
              <a:t>Customer age in years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020824"/>
            <a:ext cx="2286000" cy="384048"/>
          </a:xfrm>
          <a:prstGeom prst="rect">
            <a:avLst/>
          </a:prstGeom>
          <a:solidFill>
            <a:srgbClr val="1A5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06040" y="2020824"/>
            <a:ext cx="1554480" cy="384048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06240" y="2020824"/>
            <a:ext cx="46634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2075688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FrequentFlyer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2075688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761"/>
                </a:solidFill>
              </a:rPr>
              <a:t>Categorical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2075688"/>
            <a:ext cx="4480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6A"/>
                </a:solidFill>
              </a:rPr>
              <a:t>Yes / No – loyalty indicator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441448"/>
            <a:ext cx="2286000" cy="384048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06040" y="2441448"/>
            <a:ext cx="1554480" cy="384048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06240" y="2441448"/>
            <a:ext cx="46634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2496312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AnnualIncomeClass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1760" y="2496312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761"/>
                </a:solidFill>
              </a:rPr>
              <a:t>Categorical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60" y="2496312"/>
            <a:ext cx="4480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6A"/>
                </a:solidFill>
              </a:rPr>
              <a:t>Low / Middle / High income tier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862072"/>
            <a:ext cx="2286000" cy="384048"/>
          </a:xfrm>
          <a:prstGeom prst="rect">
            <a:avLst/>
          </a:prstGeom>
          <a:solidFill>
            <a:srgbClr val="397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606040" y="2862072"/>
            <a:ext cx="1554480" cy="384048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06240" y="2862072"/>
            <a:ext cx="46634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2916936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ServicesOpted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51760" y="2916936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761"/>
                </a:solidFill>
              </a:rPr>
              <a:t>Numerical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51960" y="2916936"/>
            <a:ext cx="4480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6A"/>
                </a:solidFill>
              </a:rPr>
              <a:t>Number of additional services used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3282696"/>
            <a:ext cx="2286000" cy="38404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606040" y="3282696"/>
            <a:ext cx="1554480" cy="384048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06240" y="3282696"/>
            <a:ext cx="46634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3337560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AccountSyncedToSocialMedia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51760" y="3337560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761"/>
                </a:solidFill>
              </a:rPr>
              <a:t>Categorical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51960" y="3337560"/>
            <a:ext cx="4480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6A"/>
                </a:solidFill>
              </a:rPr>
              <a:t>Yes / No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703320"/>
            <a:ext cx="2286000" cy="384048"/>
          </a:xfrm>
          <a:prstGeom prst="rect">
            <a:avLst/>
          </a:prstGeom>
          <a:solidFill>
            <a:srgbClr val="1A5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606040" y="3703320"/>
            <a:ext cx="1554480" cy="384048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206240" y="3703320"/>
            <a:ext cx="46634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0040" y="3758184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BookedHotelOrNot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51760" y="3758184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761"/>
                </a:solidFill>
              </a:rPr>
              <a:t>Categorical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51960" y="3758184"/>
            <a:ext cx="4480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6A"/>
                </a:solidFill>
              </a:rPr>
              <a:t>Yes / No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4123944"/>
            <a:ext cx="2286000" cy="38404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606040" y="4123944"/>
            <a:ext cx="1554480" cy="384048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206240" y="4123944"/>
            <a:ext cx="46634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0040" y="4178807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Target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651760" y="4178807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761"/>
                </a:solidFill>
              </a:rPr>
              <a:t>Binary (0/1)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51960" y="4178807"/>
            <a:ext cx="4480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6A"/>
                </a:solidFill>
              </a:rPr>
              <a:t>0 = Not Churned, 1 = Churned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Machine Learning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43000"/>
            <a:ext cx="502920" cy="47548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34440"/>
            <a:ext cx="411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143000"/>
            <a:ext cx="8092440" cy="47548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179576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Data Loading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79" y="1197864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</a:rPr>
              <a:t>Load CSV, check shape, view sample rows, dtypes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645920"/>
            <a:ext cx="502920" cy="47548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737360"/>
            <a:ext cx="411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645920"/>
            <a:ext cx="8092440" cy="475488"/>
          </a:xfrm>
          <a:prstGeom prst="rect">
            <a:avLst/>
          </a:prstGeom>
          <a:solidFill>
            <a:srgbClr val="1A5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1682496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Exploration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79" y="1700784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</a:rPr>
              <a:t>Summary stats, churn rate, missing value check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148840"/>
            <a:ext cx="502920" cy="47548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2240280"/>
            <a:ext cx="411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2148840"/>
            <a:ext cx="8092440" cy="47548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2185416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Preprocessing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79" y="2203704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</a:rPr>
              <a:t>Remove duplicates, encode categorical features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651760"/>
            <a:ext cx="502920" cy="47548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2743200"/>
            <a:ext cx="411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2651760"/>
            <a:ext cx="8092440" cy="475488"/>
          </a:xfrm>
          <a:prstGeom prst="rect">
            <a:avLst/>
          </a:prstGeom>
          <a:solidFill>
            <a:srgbClr val="1A5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2688336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Feature Split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79" y="2706624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</a:rPr>
              <a:t>Separate X (features) and y (target = 0/1)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154680"/>
            <a:ext cx="502920" cy="47548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3246120"/>
            <a:ext cx="411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3154680"/>
            <a:ext cx="8092440" cy="47548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3191256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Train/Test Split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79" y="3209544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</a:rPr>
              <a:t>80% train | 20% test | stratified | random_state=42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3657600"/>
            <a:ext cx="502920" cy="47548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" y="3749039"/>
            <a:ext cx="411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657600"/>
            <a:ext cx="8092440" cy="475488"/>
          </a:xfrm>
          <a:prstGeom prst="rect">
            <a:avLst/>
          </a:prstGeom>
          <a:solidFill>
            <a:srgbClr val="1A5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3694176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Random Forest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26079" y="3712463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</a:rPr>
              <a:t>n_estimators=100, max_depth=10, class_weight=balanced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4160520"/>
            <a:ext cx="502920" cy="47548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0040" y="4251960"/>
            <a:ext cx="411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" y="4160520"/>
            <a:ext cx="8092440" cy="47548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4197096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Evaluation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26079" y="4215384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</a:rPr>
              <a:t>Accuracy, Confusion Matrix, ROC, Feature Importance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Model Evaluation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1920240" cy="1188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207008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6B35"/>
                </a:solidFill>
              </a:rPr>
              <a:t>78.89%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73736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ADCFC"/>
                </a:solidFill>
              </a:rPr>
              <a:t>Accuracy</a:t>
            </a:r>
          </a:p>
        </p:txBody>
      </p:sp>
      <p:sp>
        <p:nvSpPr>
          <p:cNvPr id="7" name="Rectangle 6"/>
          <p:cNvSpPr/>
          <p:nvPr/>
        </p:nvSpPr>
        <p:spPr>
          <a:xfrm>
            <a:off x="2331720" y="1097280"/>
            <a:ext cx="1920240" cy="1188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31720" y="1207008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6B35"/>
                </a:solidFill>
              </a:rPr>
              <a:t>0.8542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173736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ADCFC"/>
                </a:solidFill>
              </a:rPr>
              <a:t>AUC Score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097280"/>
            <a:ext cx="1920240" cy="1188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207008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6B35"/>
                </a:solidFill>
              </a:rPr>
              <a:t>0.80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173736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ADCFC"/>
                </a:solidFill>
              </a:rPr>
              <a:t>F1-Score (Churn)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46520" y="1097280"/>
            <a:ext cx="1920240" cy="1188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207008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6B35"/>
                </a:solidFill>
              </a:rPr>
              <a:t>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173736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ADCFC"/>
                </a:solidFill>
              </a:rPr>
              <a:t>Precision (No Churn)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514600"/>
            <a:ext cx="39319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2542032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2761"/>
                </a:solidFill>
              </a:rPr>
              <a:t>Confusion Matrix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88720" y="2971800"/>
            <a:ext cx="1417320" cy="38404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651760" y="2971800"/>
            <a:ext cx="1417320" cy="38404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2999232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Pred: 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1760" y="2999232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Pred: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3410712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</a:rPr>
              <a:t>Act: 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" y="3840480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</a:rPr>
              <a:t>Act: 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88720" y="3401568"/>
            <a:ext cx="1417320" cy="384048"/>
          </a:xfrm>
          <a:prstGeom prst="rect">
            <a:avLst/>
          </a:prstGeom>
          <a:solidFill>
            <a:srgbClr val="287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651760" y="3401568"/>
            <a:ext cx="1417320" cy="384048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88720" y="3831336"/>
            <a:ext cx="1417320" cy="384048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651760" y="3831336"/>
            <a:ext cx="1417320" cy="384048"/>
          </a:xfrm>
          <a:prstGeom prst="rect">
            <a:avLst/>
          </a:prstGeom>
          <a:solidFill>
            <a:srgbClr val="287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3429000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51760" y="3429000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A4A6A"/>
                </a:solidFill>
              </a:rPr>
              <a:t>12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3858768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A4A6A"/>
                </a:solidFill>
              </a:rPr>
              <a:t>28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51760" y="3858768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39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0" y="2514600"/>
            <a:ext cx="420624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0" y="2542032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2761"/>
                </a:solidFill>
              </a:rPr>
              <a:t>ROC Curve Insights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3440" y="2971800"/>
            <a:ext cx="39319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 b="0">
                <a:solidFill>
                  <a:srgbClr val="4A4A6A"/>
                </a:solidFill>
              </a:rPr>
              <a:t>AUC = 0.8542 → Excellent discrimination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4A4A6A"/>
                </a:solidFill>
              </a:rPr>
              <a:t>Model significantly outperforms random (AUC = 0.5)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4A4A6A"/>
                </a:solidFill>
              </a:rPr>
              <a:t>High TPR at low FPR threshold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4A4A6A"/>
                </a:solidFill>
              </a:rPr>
              <a:t>Strong ability to identify true churners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4A4A6A"/>
                </a:solidFill>
              </a:rPr>
              <a:t>Suitable for deployment in production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Key Visualizations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41148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4114800" cy="34747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33856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Churn Distribution Chart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00200"/>
            <a:ext cx="3931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A8C8"/>
                </a:solidFill>
              </a:rPr>
              <a:t>[Generated in Jupyter Notebook – see .ipynb]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0" y="1097280"/>
            <a:ext cx="41148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54880" y="1097280"/>
            <a:ext cx="4114800" cy="34747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0600" y="1133856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Feature Analysis by Churn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600200"/>
            <a:ext cx="3931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A8C8"/>
                </a:solidFill>
              </a:rPr>
              <a:t>[Generated in Jupyter Notebook – see .ipynb]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41148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4114800" cy="34747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3099816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ROC Curve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566160"/>
            <a:ext cx="3931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A8C8"/>
                </a:solidFill>
              </a:rPr>
              <a:t>[Generated in Jupyter Notebook – see .ipynb]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0" y="3063240"/>
            <a:ext cx="41148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54880" y="3063240"/>
            <a:ext cx="4114800" cy="34747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00600" y="3099816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Feature Importance Bar Chart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3566160"/>
            <a:ext cx="3931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A8C8"/>
                </a:solidFill>
              </a:rPr>
              <a:t>[Generated in Jupyter Notebook – see .ipynb]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4681728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</a:rPr>
              <a:t>Churn Rate: ~38.8%  |  Age range: 18–80  |  Services: 1–9  |  Top predictor: Age &amp; Services Opted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Streamlit Deployment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43000"/>
            <a:ext cx="1280160" cy="5943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3444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Step 1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1143000"/>
            <a:ext cx="2286000" cy="5943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252728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Train &amp; Save 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3931920" y="1143000"/>
            <a:ext cx="49377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77639" y="125272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6A"/>
                </a:solidFill>
              </a:rPr>
              <a:t>Run notebook → model.pkl generated via pickle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773936"/>
            <a:ext cx="1280160" cy="5943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865376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Step 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773936"/>
            <a:ext cx="2286000" cy="5943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1883664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Prepare Files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31920" y="1773936"/>
            <a:ext cx="49377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77639" y="1883664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6A"/>
                </a:solidFill>
              </a:rPr>
              <a:t>app.py + model.pkl + requirements.txt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404872"/>
            <a:ext cx="1280160" cy="5943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496312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Step 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2404872"/>
            <a:ext cx="2286000" cy="5943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45920" y="25146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GitHub Repo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31920" y="2404872"/>
            <a:ext cx="49377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77639" y="25146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6A"/>
                </a:solidFill>
              </a:rPr>
              <a:t>Create public repo, upload all 3 files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035808"/>
            <a:ext cx="1280160" cy="5943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3127248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Step 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3035808"/>
            <a:ext cx="2286000" cy="5943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45920" y="3145536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Streamlit Cloud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31920" y="3035808"/>
            <a:ext cx="49377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77639" y="3145536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6A"/>
                </a:solidFill>
              </a:rPr>
              <a:t>Login at share.streamlit.io → Deploy App → Select repo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3666744"/>
            <a:ext cx="1280160" cy="5943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3758183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Step 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3666744"/>
            <a:ext cx="2286000" cy="5943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45920" y="3776472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Live App URL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31920" y="3666744"/>
            <a:ext cx="49377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77639" y="377647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6A"/>
                </a:solidFill>
              </a:rPr>
              <a:t>https://your-app-name.streamlit.app/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4297680"/>
            <a:ext cx="8595360" cy="5943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4370832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✈️  Streamlit App: Input customer details → Predict churn probability → View feature importance chart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Conclusion &amp; Key Insights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43000"/>
            <a:ext cx="411480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4114800" cy="4114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70432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Key Findings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45920"/>
            <a:ext cx="39319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 b="0">
                <a:solidFill>
                  <a:srgbClr val="4A4A6A"/>
                </a:solidFill>
              </a:rPr>
              <a:t>Accuracy: 78.89%  |  AUC: 0.8542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4A4A6A"/>
                </a:solidFill>
              </a:rPr>
              <a:t>Age &amp; Services Opted are top predictors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4A4A6A"/>
                </a:solidFill>
              </a:rPr>
              <a:t>Non-frequent flyers have higher churn risk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4A4A6A"/>
                </a:solidFill>
              </a:rPr>
              <a:t>Middle/Low income customers churn more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4A4A6A"/>
                </a:solidFill>
              </a:rPr>
              <a:t>Social media sync reduces churn slightly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0" y="1143000"/>
            <a:ext cx="411480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54880" y="1143000"/>
            <a:ext cx="4114800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1170432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Future Improvements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645920"/>
            <a:ext cx="39319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 b="0">
                <a:solidFill>
                  <a:srgbClr val="4A4A6A"/>
                </a:solidFill>
              </a:rPr>
              <a:t>GridSearchCV / Bayesian hyperparameter tuning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4A4A6A"/>
                </a:solidFill>
              </a:rPr>
              <a:t>Try XGBoost, LightGBM for comparison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4A4A6A"/>
                </a:solidFill>
              </a:rPr>
              <a:t>Apply SMOTE for class imbalance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4A4A6A"/>
                </a:solidFill>
              </a:rPr>
              <a:t>Add real-time data pipeline integration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4A4A6A"/>
                </a:solidFill>
              </a:rPr>
              <a:t>Explainable AI with SHAP values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703320"/>
            <a:ext cx="8595360" cy="12344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3749039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</a:rPr>
              <a:t>Learning Outcomes Achieved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16052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</a:rPr>
              <a:t>✓ Data Preprocessing   ✓ Feature Engineering   ✓ Random Forest Model   ✓ Model Evaluation   ✓ Visualization   ✓ Streamlit Deployment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4773168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Thank You  —  Customer Churn Prediction | B.Tech Gen AI | 2nd Semester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